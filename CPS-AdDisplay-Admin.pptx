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005840"/>
            <a:ext cx="1554480" cy="1051560"/>
          </a:xfrm>
          <a:prstGeom prst="rect">
            <a:avLst>
              <a:gd name="adj" fmla="val 6957"/>
            </a:avLst>
          </a:prstGeom>
          <a:solidFill>
            <a:srgbClr val="2A3A8A"/>
          </a:solidFill>
          <a:ln w="25400">
            <a:solidFill>
              <a:srgbClr val="4F6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44968" y="2057400"/>
            <a:ext cx="274320" cy="27432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5" name="Shape 3"/>
          <p:cNvSpPr/>
          <p:nvPr/>
        </p:nvSpPr>
        <p:spPr>
          <a:xfrm>
            <a:off x="7205472" y="2331720"/>
            <a:ext cx="1298448" cy="73152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188720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Ad Display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Admin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5029200" cy="27432"/>
          </a:xfrm>
          <a:prstGeom prst="rect">
            <a:avLst/>
          </a:prstGeom>
          <a:solidFill>
            <a:srgbClr val="2A3A8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này hướng dẫn Admin cách thêm video, quản lý playlist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từng khu vực, và cập nhật lên toàn bộ máy hiển thị.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cps-ad-display.pages.dev/admin.html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hoạt động như thế nào?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8288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680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sơ đồ này giúp bạn biết tại sao làm mỗi bước trong hướng dẫn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20240" cy="1280160"/>
          </a:xfrm>
          <a:prstGeom prst="rect">
            <a:avLst/>
          </a:prstGeom>
          <a:solidFill>
            <a:srgbClr val="2A3A8A"/>
          </a:solidFill>
          <a:ln w="12700">
            <a:solidFill>
              <a:srgbClr val="3A3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chỉnh playlist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ở đây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77440" y="1143000"/>
            <a:ext cx="1920240" cy="1280160"/>
          </a:xfrm>
          <a:prstGeom prst="rect">
            <a:avLst/>
          </a:prstGeom>
          <a:solidFill>
            <a:srgbClr val="1A3A1A"/>
          </a:solidFill>
          <a:ln w="12700">
            <a:solidFill>
              <a:srgbClr val="3A3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(kho lưu trữ)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lưu playlist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trên mạng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1143000"/>
            <a:ext cx="1920240" cy="1280160"/>
          </a:xfrm>
          <a:prstGeom prst="rect">
            <a:avLst/>
          </a:prstGeom>
          <a:solidFill>
            <a:srgbClr val="2A1A00"/>
          </a:solidFill>
          <a:ln w="12700">
            <a:solidFill>
              <a:srgbClr val="3A3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phát đến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máy (~30s)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0" y="1143000"/>
            <a:ext cx="192024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3A3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nhận bản mới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~5 phút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94560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0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74320" y="2578608"/>
            <a:ext cx="2743200" cy="129844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5760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server riêng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34381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thứ chạy trên Cloudflare — miễn phí, không cần IT duy trì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2578608"/>
            <a:ext cx="2743200" cy="129844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5584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10128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tự động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10128" y="34381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lưu playlist → trong ~5 phút tất cả máy tự nhận nội dung mới, không cần đụng vào máy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63056" y="2578608"/>
            <a:ext cx="2743200" cy="129844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0216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54496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khi mất mạng tạm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54496" y="34381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đã lưu cache. Nếu mất mạng, tiếp tục phát playlist cũ. Khi có mạng trở lại tự cập nhật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95360" cy="475488"/>
          </a:xfrm>
          <a:prstGeom prst="rect">
            <a:avLst/>
          </a:prstGeom>
          <a:solidFill>
            <a:srgbClr val="001A0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608576"/>
            <a:ext cx="8375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nhấn "Lưu lên GitHub", bạn không cần làm gì thêm — các máy tự cập nhật trong ~5 phút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Admin lần đầu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8288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77240"/>
            <a:ext cx="8595360" cy="438912"/>
          </a:xfrm>
          <a:prstGeom prst="rect">
            <a:avLst/>
          </a:prstGeom>
          <a:solidFill>
            <a:srgbClr val="1A1A0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GitHub Token là gì?  </a:t>
            </a:r>
            <a:pPr indent="0" marL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"chìa khoá" cho phép Admin lưu playlist lên hệ thống. Chỉ tạo 1 lần, giữ bí mật.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069080" cy="3429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898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 — Tạo GitHub Token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(Làm 1 lần duy nhất — lần sau không cần làm lại)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trình duyệt, vào địa chỉ: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github.com/settings/tokens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"Fine-grained personal access tokens"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"Generate new token"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tên tuỳ ý (ví dụ: cps-display)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Repository: CPS-VHWS/cps-ad-display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Permission: Contents → Read and write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Copy token ngay — chỉ hiện 1 lần!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298448"/>
            <a:ext cx="4343400" cy="3429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389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 — Đăng nhập Admin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700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(Làm mỗi lần mở lại trình duyệt)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2048256"/>
            <a:ext cx="292608" cy="292608"/>
          </a:xfrm>
          <a:prstGeom prst="rect">
            <a:avLst>
              <a:gd name="adj" fmla="val 25000"/>
            </a:avLst>
          </a:prstGeom>
          <a:solidFill>
            <a:srgbClr val="4F6EF7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02352" y="20116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trang Admin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02352" y="23408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cps-ad-display.pages.dev/admin.html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2743200"/>
            <a:ext cx="292608" cy="292608"/>
          </a:xfrm>
          <a:prstGeom prst="rect">
            <a:avLst>
              <a:gd name="adj" fmla="val 25000"/>
            </a:avLst>
          </a:prstGeom>
          <a:solidFill>
            <a:srgbClr val="4F6EF7"/>
          </a:solidFill>
          <a:ln/>
        </p:spPr>
      </p:sp>
      <p:sp>
        <p:nvSpPr>
          <p:cNvPr id="18" name="Text 16"/>
          <p:cNvSpPr/>
          <p:nvPr/>
        </p:nvSpPr>
        <p:spPr>
          <a:xfrm>
            <a:off x="4681728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02352" y="270662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PIN khi được hỏi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02352" y="3035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người quản trị hệ thống nếu chưa có PIN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3438144"/>
            <a:ext cx="292608" cy="292608"/>
          </a:xfrm>
          <a:prstGeom prst="rect">
            <a:avLst>
              <a:gd name="adj" fmla="val 25000"/>
            </a:avLst>
          </a:prstGeom>
          <a:solidFill>
            <a:srgbClr val="4F6EF7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02352" y="34015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token vào ô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"Personal Access Token"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02352" y="37307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đã copy ở Bước 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4133088"/>
            <a:ext cx="292608" cy="292608"/>
          </a:xfrm>
          <a:prstGeom prst="rect">
            <a:avLst>
              <a:gd name="adj" fmla="val 25000"/>
            </a:avLst>
          </a:prstGeom>
          <a:solidFill>
            <a:srgbClr val="4F6EF7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02352" y="4096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"↓ Tải playlist từ GitHub"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02352" y="4425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hiện tại sẽ tải về để chỉnh sửa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773168"/>
            <a:ext cx="8595360" cy="475488"/>
          </a:xfrm>
          <a:prstGeom prst="rect">
            <a:avLst/>
          </a:prstGeom>
          <a:solidFill>
            <a:srgbClr val="001A2A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809744"/>
            <a:ext cx="8375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chỉ cần nhập lại khi bạn mở trình duyệt mới hoặc xóa dữ liệu. Không cần nhập lại nếu vẫn còn tab đó.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video YouTube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8288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680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là nguồn video chính — chất lượng tốt, tự detect thời lượng, không tốn dung lượng Drive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42416"/>
            <a:ext cx="8595360" cy="658368"/>
          </a:xfrm>
          <a:prstGeom prst="rect">
            <a:avLst/>
          </a:prstGeom>
          <a:solidFill>
            <a:srgbClr val="0D0F18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lấy Video ID: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link YouTube: </a:t>
            </a:r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youtube.com/watch?v=</a:t>
            </a:r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dQw4w9WgXcQ</a:t>
            </a:r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← chép phần này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64792"/>
          <a:ext cx="8595360" cy="2724912"/>
        </p:xfrm>
        <a:graphic>
          <a:graphicData uri="http://schemas.openxmlformats.org/drawingml/2006/table">
            <a:tbl>
              <a:tblPr/>
              <a:tblGrid>
                <a:gridCol w="1188720"/>
                <a:gridCol w="2606040"/>
                <a:gridCol w="3520440"/>
                <a:gridCol w="1280160"/>
              </a:tblGrid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Trường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Điền gì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Tại sao cần?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Bắt buộc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A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Chuỗi ký tự sau ?v= trong link YouTube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Để hệ thống biết phát video nào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 để dễ nhớ (ví dụ: "Quảng cáo tháng 5")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Hiện trên thanh trạng thái máy — giúp nhận biết đang phát clip nào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(giây)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Thường để trống. Video riêng tư/ẩn: nhập số giây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tự lấy cho video public. Video unlisted/private không lấy được — phải nhập tay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end screen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Bật/tắt toggle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Nếu bật: máy tự chuyển video trước ~15% cuối để không hiện gợi ý của YouTube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 vực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từ danh sách (HCM, HN...)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Máy ở khu vực đó mới phát. Để trống = tất cả máy đều phát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Chương trình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từ danh sách campaign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Máy được gán campaign đó mới phát. Để trống = luôn phát ở mọi máy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4544568"/>
            <a:ext cx="8595360" cy="475488"/>
          </a:xfrm>
          <a:prstGeom prst="rect">
            <a:avLst/>
          </a:prstGeom>
          <a:solidFill>
            <a:srgbClr val="2A100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4581144"/>
            <a:ext cx="8375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bị lỗi 101 hoặc 150 = chủ video đã tắt tính năng nhúng vào website khác. Giải pháp: tải video đó lên Google Drive rồi thêm lại.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Google Drive &amp; Hình ảnh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8288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680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khi: video không thể nhúng từ YouTube, hoặc muốn phát video/ảnh riêng của công 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292608"/>
          </a:xfrm>
          <a:prstGeom prst="rect">
            <a:avLst/>
          </a:prstGeom>
          <a:solidFill>
            <a:srgbClr val="2A3A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789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VIDEO GOOGLE DRIVE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lấy File ID từ link Drive: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3749040" cy="347472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8249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drive.google.com/file/d/</a:t>
            </a:r>
            <a:pPr indent="0" marL="0">
              <a:buNone/>
            </a:pPr>
            <a:r>
              <a:rPr lang="en-US" sz="85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FILE_ID</a:t>
            </a:r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/view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0391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Chép phần chữ ở giữa 2 dấu gạch chéo (/) đó là File 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50008"/>
            <a:ext cx="237744" cy="237744"/>
          </a:xfrm>
          <a:prstGeom prst="rect">
            <a:avLst/>
          </a:prstGeom>
          <a:solidFill>
            <a:srgbClr val="2A100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50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2350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BUỘC nhập Duration (giây)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6243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không tự lấy được thời lượng như YouTube. Nếu không nhập, máy sẽ phát mãi không chuyển sang video tiếp theo.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47288"/>
            <a:ext cx="237744" cy="237744"/>
          </a:xfrm>
          <a:prstGeom prst="rect">
            <a:avLst/>
          </a:prstGeom>
          <a:solidFill>
            <a:srgbClr val="001A0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47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447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file đúng quyền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37216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file Drive → nhấn Share → chọn "Bất kỳ ai có đường link". Nếu không máy sẽ không phát được.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051560"/>
            <a:ext cx="4160520" cy="37490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051560"/>
            <a:ext cx="4160520" cy="292608"/>
          </a:xfrm>
          <a:prstGeom prst="rect">
            <a:avLst/>
          </a:prstGeom>
          <a:solidFill>
            <a:srgbClr val="3A2A0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0789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HÌNH ẢNH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4447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171907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File ID của ảnh (cách lấy giống bên trái). File phải được chia sẻ "Bất kỳ ai có đường link".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04872"/>
            <a:ext cx="3840480" cy="18288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4963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ảnh trực tiếp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277063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đường link ảnh công khai kết thúc bằng .jpg .png .webp hoặc tương tự.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456432"/>
            <a:ext cx="3840480" cy="18288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5478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(giây)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382219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hiển thị ảnh trước khi chuyển sang nội dung tiếp theo. Để trống = mặc định 5 giây.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846320"/>
            <a:ext cx="8595360" cy="475488"/>
          </a:xfrm>
          <a:prstGeom prst="rect">
            <a:avLst/>
          </a:prstGeom>
          <a:solidFill>
            <a:srgbClr val="001A2A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882896"/>
            <a:ext cx="8375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dùng Drive? Khi video YouTube báo lỗi 101/150, hoặc video là nội dung nội bộ chưa đăng YouTube.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vực &amp; Chương trình — Phân luồng nội dung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8288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680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 máy ở HCM chỉ phát quảng cáo HCM, máy ở HN chỉ phát HN. Campaign để bật/tắt nội dung theo đợt chạy.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859536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60704"/>
            <a:ext cx="54864" cy="1143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481328"/>
            <a:ext cx="292608" cy="292608"/>
          </a:xfrm>
          <a:prstGeom prst="rect">
            <a:avLst>
              <a:gd name="adj" fmla="val 25000"/>
            </a:avLst>
          </a:prstGeom>
          <a:solidFill>
            <a:srgbClr val="4F6EF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1521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chương trình (Campaign)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49961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Admin → ô "Chương trình mới" → nhập tên ngắn không dấu, không cách (ví dụ: edu, b2b, tet2026) → "+ Thêm".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hiện dạng chip nhỏ phía dưới. Có thể tạo nhiều chương trình.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859536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04288"/>
            <a:ext cx="54864" cy="1143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" y="2724912"/>
            <a:ext cx="292608" cy="292608"/>
          </a:xfrm>
          <a:prstGeom prst="rect">
            <a:avLst>
              <a:gd name="adj" fmla="val 25000"/>
            </a:avLst>
          </a:prstGeom>
          <a:solidFill>
            <a:srgbClr val="4F6EF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395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Khu vực + Chương trình cho từng video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27432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video trong playlist có dropdown chọn Khu vực và Chương trình.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Để trống Khu vực = phát ở tất cả máy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Để trống Chương trình = luôn phát dù máy đang chạy campaign nào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859536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47872"/>
            <a:ext cx="54864" cy="1143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" y="3968496"/>
            <a:ext cx="292608" cy="292608"/>
          </a:xfrm>
          <a:prstGeom prst="rect">
            <a:avLst>
              <a:gd name="adj" fmla="val 25000"/>
            </a:avLst>
          </a:prstGeom>
          <a:solidFill>
            <a:srgbClr val="4F6EF7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6393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URL phù hợp → gửi cho nhân sự cài lên máy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4400" y="3986784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có phần tạo URL tự động. Chọn khu vực + chương trình → copy URL → gửi cho nhân sự.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sự dán URL này vào trình duyệt khi cài app.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913632"/>
            <a:ext cx="8595360" cy="594360"/>
          </a:xfrm>
          <a:prstGeom prst="rect">
            <a:avLst/>
          </a:prstGeom>
          <a:solidFill>
            <a:srgbClr val="0D0F18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50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URL: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1696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Ngang · HCM · edu: </a:t>
            </a:r>
            <a:pPr indent="0" marL="0">
              <a:buNone/>
            </a:pPr>
            <a:r>
              <a:rPr lang="en-US" sz="95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cps-ad-display.pages.dev/?r=hcm&amp;c=edu</a:t>
            </a:r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Dọc · HN: </a:t>
            </a:r>
            <a:pPr indent="0" marL="0">
              <a:buNone/>
            </a:pPr>
            <a:r>
              <a:rPr lang="en-US" sz="95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cps-ad-display.pages.dev/vertical/?r=hn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572000"/>
            <a:ext cx="8595360" cy="475488"/>
          </a:xfrm>
          <a:prstGeom prst="rect">
            <a:avLst/>
          </a:prstGeom>
          <a:solidFill>
            <a:srgbClr val="001A2A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608576"/>
            <a:ext cx="8375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không có ?r= và ?c= trong URL → phát tất cả video. Phù hợp khi chỉ có 1 khu vực hoặc 1 nội dung chung.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&amp; Deploy — Đẩy nội dung lên tất cả máy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8288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680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quy trình này xảy ra tự động sau khi bạn nhấn 1 nút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8595360" cy="1060704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60704"/>
            <a:ext cx="54864" cy="1060704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60704"/>
            <a:ext cx="868680" cy="1060704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444752"/>
            <a:ext cx="292608" cy="292608"/>
          </a:xfrm>
          <a:prstGeom prst="rect">
            <a:avLst>
              <a:gd name="adj" fmla="val 25000"/>
            </a:avLst>
          </a:prstGeom>
          <a:solidFill>
            <a:srgbClr val="4F6EF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43584" y="115214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"↑ Lưu lên GitHub" trong Admin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43584" y="151790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được gửi lên GitHub — đây là "kho trung tâm" lưu toàn bộ nội dung hệ thống. Thông báo xanh "Đã lưu thành công" hiện lên là xong.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43800" y="1408176"/>
            <a:ext cx="1188720" cy="329184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408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giây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8595360" cy="1060704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31136"/>
            <a:ext cx="54864" cy="1060704"/>
          </a:xfrm>
          <a:prstGeom prst="rect">
            <a:avLst/>
          </a:prstGeom>
          <a:solidFill>
            <a:srgbClr val="34A88A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231136"/>
            <a:ext cx="868680" cy="1060704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615184"/>
            <a:ext cx="292608" cy="292608"/>
          </a:xfrm>
          <a:prstGeom prst="rect">
            <a:avLst>
              <a:gd name="adj" fmla="val 25000"/>
            </a:avLst>
          </a:prstGeom>
          <a:solidFill>
            <a:srgbClr val="34A88A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43584" y="232257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báo Cloudflare tự động build lại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43584" y="268833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nhận thay đổi → chuẩn bị phiên bản mới để phân phát đến tất cả máy. Bạn không cần làm gì trong bước này.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43800" y="2578608"/>
            <a:ext cx="1188720" cy="329184"/>
          </a:xfrm>
          <a:prstGeom prst="rect">
            <a:avLst/>
          </a:prstGeom>
          <a:solidFill>
            <a:srgbClr val="34A88A"/>
          </a:solidFill>
          <a:ln w="12700">
            <a:solidFill>
              <a:srgbClr val="34A8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2578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giây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01568"/>
            <a:ext cx="8595360" cy="1060704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01568"/>
            <a:ext cx="54864" cy="106070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401568"/>
            <a:ext cx="868680" cy="1060704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785616"/>
            <a:ext cx="292608" cy="292608"/>
          </a:xfrm>
          <a:prstGeom prst="rect">
            <a:avLst>
              <a:gd name="adj" fmla="val 25000"/>
            </a:avLst>
          </a:prstGeom>
          <a:solidFill>
            <a:srgbClr val="FB923C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43584" y="349300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hiển thị tự phát hiện và áp dụng bản mới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43584" y="385876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máy tự kiểm tra config mới sau mỗi 5 phút. Khi phát hiện thay đổi → tự reload sau video hiện tại kết thúc (không bị gián đoạn).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43800" y="3749040"/>
            <a:ext cx="1188720" cy="32918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3749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phút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553712"/>
            <a:ext cx="8595360" cy="384048"/>
          </a:xfrm>
          <a:prstGeom prst="rect">
            <a:avLst/>
          </a:prstGeom>
          <a:solidFill>
            <a:srgbClr val="001A0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8114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Không cần đụng vào máy hiển thị  ·  Cần cập nhật ngay: nhấn màn hình → thoát fullscreen → F5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thường ngày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8288"/>
          </a:xfrm>
          <a:prstGeom prst="rect">
            <a:avLst/>
          </a:prstGeom>
          <a:solidFill>
            <a:srgbClr val="2A2D3A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23360"/>
        </p:xfrm>
        <a:graphic>
          <a:graphicData uri="http://schemas.openxmlformats.org/drawingml/2006/table">
            <a:tbl>
              <a:tblPr/>
              <a:tblGrid>
                <a:gridCol w="2834640"/>
                <a:gridCol w="4663440"/>
                <a:gridCol w="1097280"/>
              </a:tblGrid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Tình huống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Làm gì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A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Muốn thêm / xóa / đổi thứ tự video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admin → chỉnh playlist → nhấn "↑ Lưu lên GitHub" → xong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phút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Muốn cập nhật lên máy ngay (không chờ)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Đến máy → nhấn màn hình (thoát fullscreen) → F5 hoặc kéo refresh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giây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Màn hình đen, không phát gì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Đóng app → mở lại từ màn hình chính / desktop. Vẫn đen: mở trình duyệt vào lại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phút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bị lỗi hoặc đã xóa khỏi YouTube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Máy tự skip qua trong 2 giây. Admin vào xóa video đó khỏi playlist để không lặp lại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xử lý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Máy mất mạng vài tiếng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Tiếp tục phát playlist cũ (đã lưu trong máy). Khi có mạng trở lại tự nhận playlist mới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phục hồi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6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Muốn tắt tiếng một máy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Nhấn vào màn hình (thoát fullscreen) → nhấn icon loa góc dưới trái → nhấn màn hình vào fullscreen lại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giây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thường gặp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8288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YouTube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1874520"/>
        </p:xfrm>
        <a:graphic>
          <a:graphicData uri="http://schemas.openxmlformats.org/drawingml/2006/table">
            <a:tbl>
              <a:tblPr/>
              <a:tblGrid>
                <a:gridCol w="1188720"/>
                <a:gridCol w="3474720"/>
                <a:gridCol w="393192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lỗi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Nghĩa là gì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xử lý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ID không tồn tại hoặc gõ sai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lại ID — copy chính xác từ link YouTube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bị xóa hoặc để chế độ private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Xóa video này khỏi playlist trong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 / 150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Chủ video đã tắt tính năng nhúng vào website khác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Tải video lên Google Drive → thêm lại dạng Drive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Lỗi trình phát HTML5 (thường tạm thời)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Máy tự skip qua. Nếu xảy ra mãi → thay video khác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154680"/>
            <a:ext cx="4160520" cy="16916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8912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8912" y="3675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không phát được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398678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 1: Quyền chia sẻ chưa đúng → mở file Drive → Share → "Bất kỳ ai có đường link"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 2: Quên nhập Duration → thêm lại và nhập số giây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154680"/>
            <a:ext cx="4160520" cy="16916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82312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82312" y="3675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ảnh không hiện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82312" y="398678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URL ảnh còn hoạt động không. Nếu dùng Drive: quyền chia sẻ phải công khai, File ID phải chính xác.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 Ad Display — Hướng dẫn Admin</dc:title>
  <dc:subject>PptxGenJS Presentation</dc:subject>
  <dc:creator>PptxGenJS</dc:creator>
  <cp:lastModifiedBy>PptxGenJS</cp:lastModifiedBy>
  <cp:revision>1</cp:revision>
  <dcterms:created xsi:type="dcterms:W3CDTF">2026-04-30T11:19:24Z</dcterms:created>
  <dcterms:modified xsi:type="dcterms:W3CDTF">2026-04-30T11:19:24Z</dcterms:modified>
</cp:coreProperties>
</file>